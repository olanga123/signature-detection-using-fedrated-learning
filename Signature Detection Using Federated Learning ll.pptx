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59" r:id="rId6"/>
    <p:sldId id="260" r:id="rId7"/>
    <p:sldId id="261" r:id="rId8"/>
    <p:sldId id="262" r:id="rId9"/>
    <p:sldId id="263" r:id="rId10"/>
    <p:sldId id="273" r:id="rId11"/>
    <p:sldId id="264" r:id="rId12"/>
    <p:sldId id="265" r:id="rId14"/>
    <p:sldId id="266" r:id="rId15"/>
    <p:sldId id="267" r:id="rId16"/>
    <p:sldId id="271" r:id="rId17"/>
    <p:sldId id="272"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53" autoAdjust="0"/>
  </p:normalViewPr>
  <p:slideViewPr>
    <p:cSldViewPr snapToGrid="0">
      <p:cViewPr varScale="1">
        <p:scale>
          <a:sx n="64" d="100"/>
          <a:sy n="64" d="100"/>
        </p:scale>
        <p:origin x="139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E9D76-526C-4383-A49D-DDF2F9B27C5B}"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C09BE-EB66-414F-86ED-AE6E28528841}"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7C09BE-EB66-414F-86ED-AE6E28528841}"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FF993651-80CB-4369-ADB7-F75A3D3AFEDC}"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30F7A75-FECD-46D9-B47B-79D450D060C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30F7A75-FECD-46D9-B47B-79D450D060C3}"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0F7A75-FECD-46D9-B47B-79D450D060C3}"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230F7A75-FECD-46D9-B47B-79D450D060C3}"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30F7A75-FECD-46D9-B47B-79D450D060C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30F7A75-FECD-46D9-B47B-79D450D060C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30F7A75-FECD-46D9-B47B-79D450D060C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30F7A75-FECD-46D9-B47B-79D450D060C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93651-80CB-4369-ADB7-F75A3D3AFED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30F7A75-FECD-46D9-B47B-79D450D060C3}" type="datetimeFigureOut">
              <a:rPr lang="en-IN" smtClean="0"/>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993651-80CB-4369-ADB7-F75A3D3AFEDC}" type="slidenum">
              <a:rPr lang="en-IN" smtClean="0"/>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panose="020B0604020202020204"/>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panose="020B0604020202020204"/>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panose="020B0604020202020204"/>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Signature Detection Using Federated Learning</a:t>
            </a:r>
            <a:endParaRPr lang="en-IN" dirty="0"/>
          </a:p>
        </p:txBody>
      </p:sp>
      <p:sp>
        <p:nvSpPr>
          <p:cNvPr id="5" name="Subtitle 4"/>
          <p:cNvSpPr>
            <a:spLocks noGrp="1"/>
          </p:cNvSpPr>
          <p:nvPr>
            <p:ph type="subTitle" idx="1"/>
          </p:nvPr>
        </p:nvSpPr>
        <p:spPr>
          <a:xfrm flipH="1" flipV="1">
            <a:off x="11160124" y="5791199"/>
            <a:ext cx="45719" cy="45719"/>
          </a:xfrm>
        </p:spPr>
        <p:txBody>
          <a:bodyPr>
            <a:normAutofit fontScale="25000" lnSpcReduction="20000"/>
          </a:bodyPr>
          <a:lstStyle/>
          <a:p>
            <a:endParaRPr lang="en-IN" dirty="0"/>
          </a:p>
        </p:txBody>
      </p:sp>
      <p:sp>
        <p:nvSpPr>
          <p:cNvPr id="6" name="TextBox 5"/>
          <p:cNvSpPr txBox="1"/>
          <p:nvPr/>
        </p:nvSpPr>
        <p:spPr>
          <a:xfrm>
            <a:off x="0" y="4513006"/>
            <a:ext cx="3962399" cy="2584450"/>
          </a:xfrm>
          <a:prstGeom prst="rect">
            <a:avLst/>
          </a:prstGeom>
          <a:noFill/>
        </p:spPr>
        <p:txBody>
          <a:bodyPr wrap="square" rtlCol="0">
            <a:spAutoFit/>
          </a:bodyPr>
          <a:lstStyle/>
          <a:p>
            <a:endParaRPr lang="en-IN" dirty="0"/>
          </a:p>
          <a:p>
            <a:endParaRPr lang="en-IN" dirty="0"/>
          </a:p>
          <a:p>
            <a:endParaRPr lang="en-IN" dirty="0"/>
          </a:p>
          <a:p>
            <a:r>
              <a:rPr lang="en-IN" dirty="0" err="1"/>
              <a:t>Persented</a:t>
            </a:r>
            <a:r>
              <a:rPr lang="en-IN" dirty="0"/>
              <a:t> by-</a:t>
            </a:r>
            <a:endParaRPr lang="en-IN" dirty="0"/>
          </a:p>
          <a:p>
            <a:r>
              <a:rPr lang="en-IN" dirty="0"/>
              <a:t>Master ayushman-9922103201</a:t>
            </a:r>
            <a:endParaRPr lang="en-IN" dirty="0"/>
          </a:p>
          <a:p>
            <a:r>
              <a:rPr lang="en-IN" dirty="0"/>
              <a:t>Pratham tyagi-9922103225</a:t>
            </a:r>
            <a:endParaRPr lang="en-IN" dirty="0"/>
          </a:p>
          <a:p>
            <a:r>
              <a:rPr lang="en-IN" dirty="0"/>
              <a:t>Ayush Upadhayay-9922103220</a:t>
            </a:r>
            <a:endParaRPr lang="en-IN" dirty="0"/>
          </a:p>
          <a:p>
            <a:r>
              <a:rPr lang="en-IN" dirty="0"/>
              <a:t>Deepak jain-9922103203</a:t>
            </a:r>
            <a:endParaRPr lang="en-IN" dirty="0"/>
          </a:p>
          <a:p>
            <a:endParaRPr lang="en-IN"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862586" cy="1072898"/>
          </a:xfrm>
          <a:prstGeom prst="rect">
            <a:avLst/>
          </a:prstGeom>
        </p:spPr>
      </p:pic>
      <p:sp>
        <p:nvSpPr>
          <p:cNvPr id="10" name="TextBox 9"/>
          <p:cNvSpPr txBox="1"/>
          <p:nvPr/>
        </p:nvSpPr>
        <p:spPr>
          <a:xfrm>
            <a:off x="1750143" y="36670"/>
            <a:ext cx="8131276" cy="1077218"/>
          </a:xfrm>
          <a:prstGeom prst="rect">
            <a:avLst/>
          </a:prstGeom>
          <a:noFill/>
        </p:spPr>
        <p:txBody>
          <a:bodyPr wrap="square" rtlCol="0">
            <a:spAutoFit/>
          </a:bodyPr>
          <a:lstStyle/>
          <a:p>
            <a:r>
              <a:rPr lang="en-IN" sz="3200" dirty="0"/>
              <a:t>JAYPEE INSTITUTE OF INFORMATION AND TECHNOLOGY NOIDA</a:t>
            </a:r>
            <a:endParaRPr lang="en-I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Introduction</a:t>
            </a:r>
            <a:endParaRPr lang="en-IN"/>
          </a:p>
        </p:txBody>
      </p:sp>
      <p:sp>
        <p:nvSpPr>
          <p:cNvPr id="3" name="Text Placeholder 2"/>
          <p:cNvSpPr>
            <a:spLocks noGrp="1"/>
          </p:cNvSpPr>
          <p:nvPr>
            <p:ph type="body"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Signature detection plays a crucial role in verifying the authenticity of signatures to prevent fraud and ensure document integrity. It is widely used in various domains such as banking, legal documentation, financial transactions, and identity verification. Traditional signature detection methods rely on centralized machine learning models that require large datasets to train effectively. However, these approaches come with several challenges, including data privacy concerns, security risks, and the need for high computational resources. As digital transactions become more prevalent, ensuring a secure and efficient method for signature detection has become a necessity.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What is Federated Learning?</a:t>
            </a:r>
            <a:endParaRPr lang="en-IN"/>
          </a:p>
        </p:txBody>
      </p:sp>
      <p:sp>
        <p:nvSpPr>
          <p:cNvPr id="3" name="Text Placeholder 2"/>
          <p:cNvSpPr>
            <a:spLocks noGrp="1"/>
          </p:cNvSpPr>
          <p:nvPr>
            <p:ph type="body" idx="1"/>
          </p:nvPr>
        </p:nvSpPr>
        <p:spPr>
          <a:xfrm>
            <a:off x="599768" y="1700981"/>
            <a:ext cx="10217458" cy="4090219"/>
          </a:xfrm>
        </p:spPr>
        <p:txBody>
          <a:bodyPr>
            <a:normAutofit/>
          </a:bodyPr>
          <a:lstStyle/>
          <a:p>
            <a:r>
              <a:rPr lang="en-US" sz="2400" dirty="0">
                <a:latin typeface="Times New Roman" panose="02020603050405020304" pitchFamily="18" charset="0"/>
                <a:cs typeface="Times New Roman" panose="02020603050405020304" pitchFamily="18" charset="0"/>
              </a:rPr>
              <a:t>Federated Learning (FL) is a decentralized approach to machine learning that allows multiple devices or organizations to collaboratively train a model without sharing their raw data. Instead of transferring data to a central server for training, each device or participant trains a local model using its own data and only shares model updates (such as gradients or weights) with a central server. The server then aggregates these updates to improve the global model.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2" y="609601"/>
            <a:ext cx="5642810" cy="882316"/>
          </a:xfrm>
        </p:spPr>
        <p:txBody>
          <a:bodyPr>
            <a:normAutofit fontScale="90000"/>
          </a:bodyPr>
          <a:lstStyle/>
          <a:p>
            <a:r>
              <a:rPr lang="en-IN" dirty="0"/>
              <a:t>How Federated Learning Works</a:t>
            </a:r>
            <a:endParaRPr lang="en-IN" dirty="0"/>
          </a:p>
        </p:txBody>
      </p:sp>
      <p:sp>
        <p:nvSpPr>
          <p:cNvPr id="4" name="Rectangle 1"/>
          <p:cNvSpPr>
            <a:spLocks noGrp="1" noChangeArrowheads="1"/>
          </p:cNvSpPr>
          <p:nvPr>
            <p:ph type="body" idx="1"/>
          </p:nvPr>
        </p:nvSpPr>
        <p:spPr bwMode="auto">
          <a:xfrm>
            <a:off x="314632" y="2541169"/>
            <a:ext cx="1170038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Training: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participant (device, institution, or node) trains a machine learning model on its own private dataset.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Update Sharing: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Instead of sharing the raw data, only model parameters (gradients, weights) are sent to a central server.</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Aggregation: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central server aggregates the updates from multiple participants to improve the global model.</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Distribution: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updated global model is sent back to participants for further training, refining the model iteratively.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61423" y="12742"/>
            <a:ext cx="4030577" cy="25284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252" y="142568"/>
            <a:ext cx="10069974" cy="1008899"/>
          </a:xfrm>
        </p:spPr>
        <p:txBody>
          <a:bodyPr>
            <a:normAutofit fontScale="90000"/>
          </a:bodyPr>
          <a:lstStyle/>
          <a:p>
            <a:r>
              <a:rPr lang="en-US" dirty="0"/>
              <a:t>Why Use Federated Learning for Signature Detection?</a:t>
            </a:r>
            <a:endParaRPr lang="en-IN" dirty="0"/>
          </a:p>
        </p:txBody>
      </p:sp>
      <p:sp>
        <p:nvSpPr>
          <p:cNvPr id="3" name="Text Placeholder 2"/>
          <p:cNvSpPr>
            <a:spLocks noGrp="1"/>
          </p:cNvSpPr>
          <p:nvPr>
            <p:ph type="body" idx="1"/>
          </p:nvPr>
        </p:nvSpPr>
        <p:spPr>
          <a:xfrm>
            <a:off x="553157" y="1817511"/>
            <a:ext cx="10264070" cy="4897921"/>
          </a:xfrm>
        </p:spPr>
        <p:txBody>
          <a:bodyPr>
            <a:normAutofit fontScale="25000" lnSpcReduction="20000"/>
          </a:bodyPr>
          <a:lstStyle/>
          <a:p>
            <a:r>
              <a:rPr lang="en-US" sz="5600" dirty="0">
                <a:latin typeface="Times New Roman" panose="02020603050405020304" pitchFamily="18" charset="0"/>
                <a:cs typeface="Times New Roman" panose="02020603050405020304" pitchFamily="18" charset="0"/>
              </a:rPr>
              <a:t>Federated Learning (FL) is a groundbreaking approach to machine learning that addresses several challenges posed by traditional centralized learning methods. It is particularly beneficial in scenarios where data privacy, security, and decentralized training are crucial. Here are the key reasons why Federated Learning is essential:</a:t>
            </a:r>
            <a:endParaRPr lang="en-US" sz="5600" dirty="0">
              <a:latin typeface="Times New Roman" panose="02020603050405020304" pitchFamily="18" charset="0"/>
              <a:cs typeface="Times New Roman" panose="02020603050405020304" pitchFamily="18" charset="0"/>
            </a:endParaRPr>
          </a:p>
          <a:p>
            <a:r>
              <a:rPr lang="en-US" sz="5600" b="1" dirty="0">
                <a:latin typeface="Times New Roman" panose="02020603050405020304" pitchFamily="18" charset="0"/>
                <a:cs typeface="Times New Roman" panose="02020603050405020304" pitchFamily="18" charset="0"/>
              </a:rPr>
              <a:t>1. Privacy and Data Security</a:t>
            </a:r>
            <a:endParaRPr lang="en-US" sz="5600" b="1" dirty="0">
              <a:latin typeface="Times New Roman" panose="02020603050405020304" pitchFamily="18" charset="0"/>
              <a:cs typeface="Times New Roman" panose="02020603050405020304" pitchFamily="18" charset="0"/>
            </a:endParaRPr>
          </a:p>
          <a:p>
            <a:r>
              <a:rPr lang="en-US" sz="5600" dirty="0">
                <a:latin typeface="Times New Roman" panose="02020603050405020304" pitchFamily="18" charset="0"/>
                <a:cs typeface="Times New Roman" panose="02020603050405020304" pitchFamily="18" charset="0"/>
              </a:rPr>
              <a:t>One of the biggest advantages of Federated Learning is that data never leaves the local device or organization. Traditional machine learning methods require collecting and storing data in a central server, which increases the risk of data breaches and privacy violations. FL allows organizations to train models without sharing sensitive data, making it ideal for industries like healthcare, finance, and cybersecurity.</a:t>
            </a:r>
            <a:endParaRPr lang="en-US" sz="5600" dirty="0">
              <a:latin typeface="Times New Roman" panose="02020603050405020304" pitchFamily="18" charset="0"/>
              <a:cs typeface="Times New Roman" panose="02020603050405020304" pitchFamily="18" charset="0"/>
            </a:endParaRPr>
          </a:p>
          <a:p>
            <a:r>
              <a:rPr lang="en-US" sz="5600" b="1" dirty="0">
                <a:latin typeface="Times New Roman" panose="02020603050405020304" pitchFamily="18" charset="0"/>
                <a:cs typeface="Times New Roman" panose="02020603050405020304" pitchFamily="18" charset="0"/>
              </a:rPr>
              <a:t>2. Decentralized Data Processing</a:t>
            </a:r>
            <a:endParaRPr lang="en-US" sz="5600" b="1" dirty="0">
              <a:latin typeface="Times New Roman" panose="02020603050405020304" pitchFamily="18" charset="0"/>
              <a:cs typeface="Times New Roman" panose="02020603050405020304" pitchFamily="18" charset="0"/>
            </a:endParaRPr>
          </a:p>
          <a:p>
            <a:r>
              <a:rPr lang="en-US" sz="5600" dirty="0">
                <a:latin typeface="Times New Roman" panose="02020603050405020304" pitchFamily="18" charset="0"/>
                <a:cs typeface="Times New Roman" panose="02020603050405020304" pitchFamily="18" charset="0"/>
              </a:rPr>
              <a:t>In many real-world applications, data is distributed across different devices or institutions. Federated Learning enables decentralized training, where each participant can contribute to improving a shared model without transferring raw data. This is particularly useful in large-scale applications where data cannot be easily centralized due to privacy laws, data volume, or infrastructure limitations.</a:t>
            </a:r>
            <a:endParaRPr lang="en-US" sz="5600" dirty="0">
              <a:latin typeface="Times New Roman" panose="02020603050405020304" pitchFamily="18" charset="0"/>
              <a:cs typeface="Times New Roman" panose="02020603050405020304" pitchFamily="18" charset="0"/>
            </a:endParaRPr>
          </a:p>
          <a:p>
            <a:r>
              <a:rPr lang="en-US" sz="5600" b="1" dirty="0">
                <a:latin typeface="Times New Roman" panose="02020603050405020304" pitchFamily="18" charset="0"/>
                <a:cs typeface="Times New Roman" panose="02020603050405020304" pitchFamily="18" charset="0"/>
              </a:rPr>
              <a:t>3. Compliance with Data Protection Regulations</a:t>
            </a:r>
            <a:endParaRPr lang="en-US" sz="5600" b="1" dirty="0">
              <a:latin typeface="Times New Roman" panose="02020603050405020304" pitchFamily="18" charset="0"/>
              <a:cs typeface="Times New Roman" panose="02020603050405020304" pitchFamily="18" charset="0"/>
            </a:endParaRPr>
          </a:p>
          <a:p>
            <a:r>
              <a:rPr lang="en-US" sz="5600" dirty="0">
                <a:latin typeface="Times New Roman" panose="02020603050405020304" pitchFamily="18" charset="0"/>
                <a:cs typeface="Times New Roman" panose="02020603050405020304" pitchFamily="18" charset="0"/>
              </a:rPr>
              <a:t>With increasing data protection laws such as </a:t>
            </a:r>
            <a:r>
              <a:rPr lang="en-US" sz="5600" b="1" dirty="0">
                <a:latin typeface="Times New Roman" panose="02020603050405020304" pitchFamily="18" charset="0"/>
                <a:cs typeface="Times New Roman" panose="02020603050405020304" pitchFamily="18" charset="0"/>
              </a:rPr>
              <a:t>GDPR (General Data Protection Regulation) and HIPAA (Health Insurance Portability and Accountability Act)</a:t>
            </a:r>
            <a:r>
              <a:rPr lang="en-US" sz="5600" dirty="0">
                <a:latin typeface="Times New Roman" panose="02020603050405020304" pitchFamily="18" charset="0"/>
                <a:cs typeface="Times New Roman" panose="02020603050405020304" pitchFamily="18" charset="0"/>
              </a:rPr>
              <a:t>, organizations must ensure that user data remains private and secure. Federated Learning helps businesses comply with these regulations by keeping data localized while still enabling AI-driven improvements.</a:t>
            </a:r>
            <a:endParaRPr lang="en-US" sz="5600" dirty="0">
              <a:latin typeface="Times New Roman" panose="02020603050405020304" pitchFamily="18" charset="0"/>
              <a:cs typeface="Times New Roman" panose="02020603050405020304" pitchFamily="18" charset="0"/>
            </a:endParaRPr>
          </a:p>
          <a:p>
            <a:r>
              <a:rPr lang="en-US" sz="5600" b="1" dirty="0"/>
              <a:t>4. Reduced Communication Costs</a:t>
            </a:r>
            <a:endParaRPr lang="en-US" sz="5600" b="1" dirty="0"/>
          </a:p>
          <a:p>
            <a:r>
              <a:rPr lang="en-US" sz="5600" dirty="0"/>
              <a:t>Transmitting large datasets to a central server can be costly and inefficient, especially in environments with limited bandwidth. Instead of sending raw data, FL only transfers model updates (such as gradients or weights), significantly reducing the amount of transmitted information. This makes it ideal for mobile and IoT (Internet of Things) devices.</a:t>
            </a:r>
            <a:endParaRPr lang="en-US" sz="5600" dirty="0"/>
          </a:p>
          <a:p>
            <a:r>
              <a:rPr lang="en-US" sz="5600" b="1" dirty="0"/>
              <a:t>5. Handling Non-IID Data (Diverse Data Sources)</a:t>
            </a:r>
            <a:endParaRPr lang="en-US" sz="5600" b="1" dirty="0"/>
          </a:p>
          <a:p>
            <a:r>
              <a:rPr lang="en-US" sz="5600" dirty="0"/>
              <a:t>Traditional machine learning assumes that data is independent and identically distributed (IID). However, in real-world applications, data often varies significantly across different users or devices. Federated Learning allows models to learn from </a:t>
            </a:r>
            <a:r>
              <a:rPr lang="en-US" sz="5600" b="1" dirty="0"/>
              <a:t>non-IID (non-identically distributed) data</a:t>
            </a:r>
            <a:r>
              <a:rPr lang="en-US" sz="5600" dirty="0"/>
              <a:t>, making them more robust and adaptable to real-world scenarios.</a:t>
            </a:r>
            <a:endParaRPr lang="en-US" sz="5600" dirty="0"/>
          </a:p>
          <a:p>
            <a:endParaRPr lang="en-US" sz="56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755" y="0"/>
            <a:ext cx="10099471" cy="1396181"/>
          </a:xfrm>
        </p:spPr>
        <p:txBody>
          <a:bodyPr/>
          <a:lstStyle/>
          <a:p>
            <a:r>
              <a:rPr lang="en-US" dirty="0"/>
              <a:t>Traditional vs Federated Learning Approach</a:t>
            </a:r>
            <a:endParaRPr lang="en-IN" dirty="0"/>
          </a:p>
        </p:txBody>
      </p:sp>
      <p:sp>
        <p:nvSpPr>
          <p:cNvPr id="3" name="Text Placeholder 2"/>
          <p:cNvSpPr>
            <a:spLocks noGrp="1"/>
          </p:cNvSpPr>
          <p:nvPr>
            <p:ph type="body" idx="1"/>
          </p:nvPr>
        </p:nvSpPr>
        <p:spPr>
          <a:xfrm>
            <a:off x="519289" y="1207911"/>
            <a:ext cx="10297938" cy="5650090"/>
          </a:xfrm>
        </p:spPr>
        <p:txBody>
          <a:bodyPr>
            <a:normAutofit/>
          </a:bodyPr>
          <a:lstStyle/>
          <a:p>
            <a:r>
              <a:rPr lang="en-US" dirty="0">
                <a:latin typeface="Times New Roman" panose="02020603050405020304" pitchFamily="18" charset="0"/>
                <a:cs typeface="Times New Roman" panose="02020603050405020304" pitchFamily="18" charset="0"/>
              </a:rPr>
              <a:t>In contrast, </a:t>
            </a:r>
            <a:r>
              <a:rPr lang="en-US" b="1" dirty="0">
                <a:latin typeface="Times New Roman" panose="02020603050405020304" pitchFamily="18" charset="0"/>
                <a:cs typeface="Times New Roman" panose="02020603050405020304" pitchFamily="18" charset="0"/>
              </a:rPr>
              <a:t>Federated Learning</a:t>
            </a:r>
            <a:r>
              <a:rPr lang="en-US" dirty="0">
                <a:latin typeface="Times New Roman" panose="02020603050405020304" pitchFamily="18" charset="0"/>
                <a:cs typeface="Times New Roman" panose="02020603050405020304" pitchFamily="18" charset="0"/>
              </a:rPr>
              <a:t> enables decentralized training, where data remains on local devices, and only model updates (such as weights or gradients) are shared with a central server. This ensures </a:t>
            </a:r>
            <a:r>
              <a:rPr lang="en-US" b="1" dirty="0">
                <a:latin typeface="Times New Roman" panose="02020603050405020304" pitchFamily="18" charset="0"/>
                <a:cs typeface="Times New Roman" panose="02020603050405020304" pitchFamily="18" charset="0"/>
              </a:rPr>
              <a:t>data privacy</a:t>
            </a:r>
            <a:r>
              <a:rPr lang="en-US" dirty="0">
                <a:latin typeface="Times New Roman" panose="02020603050405020304" pitchFamily="18" charset="0"/>
                <a:cs typeface="Times New Roman" panose="02020603050405020304" pitchFamily="18" charset="0"/>
              </a:rPr>
              <a:t>, reduces communication costs, and allows </a:t>
            </a:r>
            <a:r>
              <a:rPr lang="en-US" b="1" dirty="0">
                <a:latin typeface="Times New Roman" panose="02020603050405020304" pitchFamily="18" charset="0"/>
                <a:cs typeface="Times New Roman" panose="02020603050405020304" pitchFamily="18" charset="0"/>
              </a:rPr>
              <a:t>personalized AI models</a:t>
            </a:r>
            <a:r>
              <a:rPr lang="en-US" dirty="0">
                <a:latin typeface="Times New Roman" panose="02020603050405020304" pitchFamily="18" charset="0"/>
                <a:cs typeface="Times New Roman" panose="02020603050405020304" pitchFamily="18" charset="0"/>
              </a:rPr>
              <a:t>. FL is particularly beneficial for applications like </a:t>
            </a:r>
            <a:r>
              <a:rPr lang="en-US" b="1" dirty="0">
                <a:latin typeface="Times New Roman" panose="02020603050405020304" pitchFamily="18" charset="0"/>
                <a:cs typeface="Times New Roman" panose="02020603050405020304" pitchFamily="18" charset="0"/>
              </a:rPr>
              <a:t>healthcare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finance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mobile AI</a:t>
            </a:r>
            <a:r>
              <a:rPr lang="en-US" dirty="0">
                <a:latin typeface="Times New Roman" panose="02020603050405020304" pitchFamily="18" charset="0"/>
                <a:cs typeface="Times New Roman" panose="02020603050405020304" pitchFamily="18" charset="0"/>
              </a:rPr>
              <a:t>, where maintaining data confidentiality is crucial.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Machine learning models are typically trained using either </a:t>
            </a:r>
            <a:r>
              <a:rPr lang="en-US" b="1" dirty="0">
                <a:latin typeface="Times New Roman" panose="02020603050405020304" pitchFamily="18" charset="0"/>
                <a:cs typeface="Times New Roman" panose="02020603050405020304" pitchFamily="18" charset="0"/>
              </a:rPr>
              <a:t>Traditional Learning</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Federated Learning (FL)</a:t>
            </a:r>
            <a:r>
              <a:rPr lang="en-US" dirty="0">
                <a:latin typeface="Times New Roman" panose="02020603050405020304" pitchFamily="18" charset="0"/>
                <a:cs typeface="Times New Roman" panose="02020603050405020304" pitchFamily="18" charset="0"/>
              </a:rPr>
              <a:t>. Traditional learning follows a centralized approach, where data from multiple sources is collected and stored on a central server for model training. While effective, this method poses serious </a:t>
            </a:r>
            <a:r>
              <a:rPr lang="en-US" b="1" dirty="0">
                <a:latin typeface="Times New Roman" panose="02020603050405020304" pitchFamily="18" charset="0"/>
                <a:cs typeface="Times New Roman" panose="02020603050405020304" pitchFamily="18" charset="0"/>
              </a:rPr>
              <a:t>privacy risks</a:t>
            </a:r>
            <a:r>
              <a:rPr lang="en-US" dirty="0">
                <a:latin typeface="Times New Roman" panose="02020603050405020304" pitchFamily="18" charset="0"/>
                <a:cs typeface="Times New Roman" panose="02020603050405020304" pitchFamily="18" charset="0"/>
              </a:rPr>
              <a:t>, requires </a:t>
            </a:r>
            <a:r>
              <a:rPr lang="en-US" b="1" dirty="0">
                <a:latin typeface="Times New Roman" panose="02020603050405020304" pitchFamily="18" charset="0"/>
                <a:cs typeface="Times New Roman" panose="02020603050405020304" pitchFamily="18" charset="0"/>
              </a:rPr>
              <a:t>high bandwidth</a:t>
            </a:r>
            <a:r>
              <a:rPr lang="en-US" dirty="0">
                <a:latin typeface="Times New Roman" panose="02020603050405020304" pitchFamily="18" charset="0"/>
                <a:cs typeface="Times New Roman" panose="02020603050405020304" pitchFamily="18" charset="0"/>
              </a:rPr>
              <a:t>, and struggles with </a:t>
            </a:r>
            <a:r>
              <a:rPr lang="en-US" b="1" dirty="0">
                <a:latin typeface="Times New Roman" panose="02020603050405020304" pitchFamily="18" charset="0"/>
                <a:cs typeface="Times New Roman" panose="02020603050405020304" pitchFamily="18" charset="0"/>
              </a:rPr>
              <a:t>data security</a:t>
            </a:r>
            <a:r>
              <a:rPr lang="en-US" dirty="0">
                <a:latin typeface="Times New Roman" panose="02020603050405020304" pitchFamily="18" charset="0"/>
                <a:cs typeface="Times New Roman" panose="02020603050405020304" pitchFamily="18" charset="0"/>
              </a:rPr>
              <a:t> issues. Sensitive information, such as medical records and financial transactions, is vulnerable to breaches, making centralized learning less suitable for privacy-sensitive applications.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Additionally, FL handles </a:t>
            </a:r>
            <a:r>
              <a:rPr lang="en-US" b="1" dirty="0">
                <a:latin typeface="Times New Roman" panose="02020603050405020304" pitchFamily="18" charset="0"/>
                <a:cs typeface="Times New Roman" panose="02020603050405020304" pitchFamily="18" charset="0"/>
              </a:rPr>
              <a:t>non-IID data</a:t>
            </a:r>
            <a:r>
              <a:rPr lang="en-US" dirty="0">
                <a:latin typeface="Times New Roman" panose="02020603050405020304" pitchFamily="18" charset="0"/>
                <a:cs typeface="Times New Roman" panose="02020603050405020304" pitchFamily="18" charset="0"/>
              </a:rPr>
              <a:t> better than traditional learning, making it more adaptable to diverse environments. It also enhances </a:t>
            </a: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allowing AI models to improve collaboratively across multiple devices or institutions without violating data privacy regulations.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conclusion, while traditional learning has been widely used, Federated Learning offers a </a:t>
            </a:r>
            <a:r>
              <a:rPr lang="en-US" b="1" dirty="0">
                <a:latin typeface="Times New Roman" panose="02020603050405020304" pitchFamily="18" charset="0"/>
                <a:cs typeface="Times New Roman" panose="02020603050405020304" pitchFamily="18" charset="0"/>
              </a:rPr>
              <a:t>secure, efficient, and privacy-preserving</a:t>
            </a:r>
            <a:r>
              <a:rPr lang="en-US" dirty="0">
                <a:latin typeface="Times New Roman" panose="02020603050405020304" pitchFamily="18" charset="0"/>
                <a:cs typeface="Times New Roman" panose="02020603050405020304" pitchFamily="18" charset="0"/>
              </a:rPr>
              <a:t> alternative that is shaping the future of AI. As industries prioritize data security, FL is emerging as the preferred approach for modern machine learning applications.</a:t>
            </a:r>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795" y="147484"/>
            <a:ext cx="10131425" cy="1456267"/>
          </a:xfrm>
        </p:spPr>
        <p:txBody>
          <a:bodyPr/>
          <a:lstStyle/>
          <a:p>
            <a:r>
              <a:rPr lang="en-IN" dirty="0"/>
              <a:t>Signature Detection Techniques</a:t>
            </a:r>
            <a:endParaRPr lang="en-IN" dirty="0"/>
          </a:p>
        </p:txBody>
      </p:sp>
      <p:sp>
        <p:nvSpPr>
          <p:cNvPr id="3" name="Text Placeholder 2"/>
          <p:cNvSpPr>
            <a:spLocks noGrp="1"/>
          </p:cNvSpPr>
          <p:nvPr>
            <p:ph type="body" idx="1"/>
          </p:nvPr>
        </p:nvSpPr>
        <p:spPr>
          <a:xfrm>
            <a:off x="519288" y="1433690"/>
            <a:ext cx="10211905" cy="5173588"/>
          </a:xfrm>
        </p:spPr>
        <p:txBody>
          <a:bodyPr>
            <a:noAutofit/>
          </a:bodyPr>
          <a:lstStyle/>
          <a:p>
            <a:r>
              <a:rPr lang="en-US" sz="1600" dirty="0">
                <a:latin typeface="Times New Roman" panose="02020603050405020304" pitchFamily="18" charset="0"/>
                <a:cs typeface="Times New Roman" panose="02020603050405020304" pitchFamily="18" charset="0"/>
              </a:rPr>
              <a:t>Signature detection is crucial for verifying authenticity in banking, legal, and financial sectors. Techniques are classified into </a:t>
            </a:r>
            <a:r>
              <a:rPr lang="en-US" sz="1600" b="1" dirty="0">
                <a:latin typeface="Times New Roman" panose="02020603050405020304" pitchFamily="18" charset="0"/>
                <a:cs typeface="Times New Roman" panose="02020603050405020304" pitchFamily="18" charset="0"/>
              </a:rPr>
              <a:t>offline (static) and online (dynamic) methods</a:t>
            </a:r>
            <a:r>
              <a:rPr lang="en-US" sz="1600" dirty="0">
                <a:latin typeface="Times New Roman" panose="02020603050405020304" pitchFamily="18" charset="0"/>
                <a:cs typeface="Times New Roman" panose="02020603050405020304" pitchFamily="18" charset="0"/>
              </a:rPr>
              <a:t>, with modern advancements using </a:t>
            </a:r>
            <a:r>
              <a:rPr lang="en-US" sz="1600" b="1" dirty="0">
                <a:latin typeface="Times New Roman" panose="02020603050405020304" pitchFamily="18" charset="0"/>
                <a:cs typeface="Times New Roman" panose="02020603050405020304" pitchFamily="18" charset="0"/>
              </a:rPr>
              <a:t>machine learning and federated learning</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Offline Detection</a:t>
            </a:r>
            <a:r>
              <a:rPr lang="en-US" sz="1600" dirty="0">
                <a:latin typeface="Times New Roman" panose="02020603050405020304" pitchFamily="18" charset="0"/>
                <a:cs typeface="Times New Roman" panose="02020603050405020304" pitchFamily="18" charset="0"/>
              </a:rPr>
              <a:t> (for scanned signatures):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Template Matching</a:t>
            </a:r>
            <a:r>
              <a:rPr lang="en-US" dirty="0">
                <a:latin typeface="Times New Roman" panose="02020603050405020304" pitchFamily="18" charset="0"/>
                <a:cs typeface="Times New Roman" panose="02020603050405020304" pitchFamily="18" charset="0"/>
              </a:rPr>
              <a:t> – Compares input with stored signature.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Feature Extraction</a:t>
            </a:r>
            <a:r>
              <a:rPr lang="en-US" dirty="0">
                <a:latin typeface="Times New Roman" panose="02020603050405020304" pitchFamily="18" charset="0"/>
                <a:cs typeface="Times New Roman" panose="02020603050405020304" pitchFamily="18" charset="0"/>
              </a:rPr>
              <a:t> – Analyzes shape, edges, and stroke thickness.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Machine Learning Models</a:t>
            </a:r>
            <a:r>
              <a:rPr lang="en-US" dirty="0">
                <a:latin typeface="Times New Roman" panose="02020603050405020304" pitchFamily="18" charset="0"/>
                <a:cs typeface="Times New Roman" panose="02020603050405020304" pitchFamily="18" charset="0"/>
              </a:rPr>
              <a:t> – Uses SVM, KNN, or Random Forest for classification.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Online Detection</a:t>
            </a:r>
            <a:r>
              <a:rPr lang="en-US" sz="1600" dirty="0">
                <a:latin typeface="Times New Roman" panose="02020603050405020304" pitchFamily="18" charset="0"/>
                <a:cs typeface="Times New Roman" panose="02020603050405020304" pitchFamily="18" charset="0"/>
              </a:rPr>
              <a:t> (real-time signatures):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Dynamic Time Warping (DTW)</a:t>
            </a:r>
            <a:r>
              <a:rPr lang="en-US" dirty="0">
                <a:latin typeface="Times New Roman" panose="02020603050405020304" pitchFamily="18" charset="0"/>
                <a:cs typeface="Times New Roman" panose="02020603050405020304" pitchFamily="18" charset="0"/>
              </a:rPr>
              <a:t> – Tracks stroke speed and pressure.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Hidden Markov Models (HMM)</a:t>
            </a:r>
            <a:r>
              <a:rPr lang="en-US" dirty="0">
                <a:latin typeface="Times New Roman" panose="02020603050405020304" pitchFamily="18" charset="0"/>
                <a:cs typeface="Times New Roman" panose="02020603050405020304" pitchFamily="18" charset="0"/>
              </a:rPr>
              <a:t> – Analyzes sequential signature patterns.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Deep Learning</a:t>
            </a:r>
            <a:r>
              <a:rPr lang="en-US" dirty="0">
                <a:latin typeface="Times New Roman" panose="02020603050405020304" pitchFamily="18" charset="0"/>
                <a:cs typeface="Times New Roman" panose="02020603050405020304" pitchFamily="18" charset="0"/>
              </a:rPr>
              <a:t> – CNNs and RNNs enhance accuracy.</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Federated Learning Approach</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Trains AI models </a:t>
            </a:r>
            <a:r>
              <a:rPr lang="en-US" b="1" dirty="0" err="1">
                <a:latin typeface="Times New Roman" panose="02020603050405020304" pitchFamily="18" charset="0"/>
                <a:cs typeface="Times New Roman" panose="02020603050405020304" pitchFamily="18" charset="0"/>
              </a:rPr>
              <a:t>decentrally</a:t>
            </a:r>
            <a:r>
              <a:rPr lang="en-US" dirty="0">
                <a:latin typeface="Times New Roman" panose="02020603050405020304" pitchFamily="18" charset="0"/>
                <a:cs typeface="Times New Roman" panose="02020603050405020304" pitchFamily="18" charset="0"/>
              </a:rPr>
              <a:t> while preserving </a:t>
            </a:r>
            <a:r>
              <a:rPr lang="en-US" b="1" dirty="0">
                <a:latin typeface="Times New Roman" panose="02020603050405020304" pitchFamily="18" charset="0"/>
                <a:cs typeface="Times New Roman" panose="02020603050405020304" pitchFamily="18" charset="0"/>
              </a:rPr>
              <a:t>privacy</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a:t>
            </a:r>
            <a:r>
              <a:rPr lang="en-US" b="1" dirty="0">
                <a:latin typeface="Times New Roman" panose="02020603050405020304" pitchFamily="18" charset="0"/>
                <a:cs typeface="Times New Roman" panose="02020603050405020304" pitchFamily="18" charset="0"/>
              </a:rPr>
              <a:t>security</a:t>
            </a:r>
            <a:r>
              <a:rPr lang="en-US" dirty="0">
                <a:latin typeface="Times New Roman" panose="02020603050405020304" pitchFamily="18" charset="0"/>
                <a:cs typeface="Times New Roman" panose="02020603050405020304" pitchFamily="18" charset="0"/>
              </a:rPr>
              <a:t> without transferring raw signature data.</a:t>
            </a:r>
            <a:endParaRPr lang="en-US"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10131425" cy="1456267"/>
          </a:xfrm>
        </p:spPr>
        <p:txBody>
          <a:bodyPr/>
          <a:lstStyle/>
          <a:p>
            <a:r>
              <a:rPr lang="en-IN" dirty="0"/>
              <a:t>Dataset Considerations</a:t>
            </a:r>
            <a:endParaRPr lang="en-IN" dirty="0"/>
          </a:p>
        </p:txBody>
      </p:sp>
      <p:sp>
        <p:nvSpPr>
          <p:cNvPr id="3" name="Text Placeholder 2"/>
          <p:cNvSpPr>
            <a:spLocks noGrp="1"/>
          </p:cNvSpPr>
          <p:nvPr>
            <p:ph type="body" idx="1"/>
          </p:nvPr>
        </p:nvSpPr>
        <p:spPr>
          <a:xfrm>
            <a:off x="685799" y="1769806"/>
            <a:ext cx="10131425" cy="4424515"/>
          </a:xfrm>
        </p:spPr>
        <p:txBody>
          <a:bodyPr>
            <a:noAutofit/>
          </a:bodyPr>
          <a:lstStyle/>
          <a:p>
            <a:r>
              <a:rPr lang="en-US" sz="1400" b="1" dirty="0">
                <a:latin typeface="Times New Roman" panose="02020603050405020304" pitchFamily="18" charset="0"/>
                <a:cs typeface="Times New Roman" panose="02020603050405020304" pitchFamily="18" charset="0"/>
              </a:rPr>
              <a:t>1. Data Type (Offline vs. Online Signatures)</a:t>
            </a:r>
            <a:endParaRPr lang="en-US" sz="1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Offline Datasets</a:t>
            </a:r>
            <a:r>
              <a:rPr lang="en-US" sz="1400" dirty="0">
                <a:latin typeface="Times New Roman" panose="02020603050405020304" pitchFamily="18" charset="0"/>
                <a:cs typeface="Times New Roman" panose="02020603050405020304" pitchFamily="18" charset="0"/>
              </a:rPr>
              <a:t> contain scanned images of handwritten signatures, requiring preprocessing techniques like binarization, noise removal, and feature extraction.</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Online Datasets</a:t>
            </a:r>
            <a:r>
              <a:rPr lang="en-US" sz="1400" dirty="0">
                <a:latin typeface="Times New Roman" panose="02020603050405020304" pitchFamily="18" charset="0"/>
                <a:cs typeface="Times New Roman" panose="02020603050405020304" pitchFamily="18" charset="0"/>
              </a:rPr>
              <a:t> include dynamic features such as pen pressure, stroke speed, and direction, providing richer information for verification.</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2. Dataset Size and Diversity</a:t>
            </a:r>
            <a:endParaRPr lang="en-US" sz="1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large dataset with </a:t>
            </a:r>
            <a:r>
              <a:rPr lang="en-US" sz="1400" b="1" dirty="0">
                <a:latin typeface="Times New Roman" panose="02020603050405020304" pitchFamily="18" charset="0"/>
                <a:cs typeface="Times New Roman" panose="02020603050405020304" pitchFamily="18" charset="0"/>
              </a:rPr>
              <a:t>genuine and forged signatures</a:t>
            </a:r>
            <a:r>
              <a:rPr lang="en-US" sz="1400" dirty="0">
                <a:latin typeface="Times New Roman" panose="02020603050405020304" pitchFamily="18" charset="0"/>
                <a:cs typeface="Times New Roman" panose="02020603050405020304" pitchFamily="18" charset="0"/>
              </a:rPr>
              <a:t> is crucial for model generalization.</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Should include signatures from diverse users, writing styles, and cultural variations.</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Must account for </a:t>
            </a:r>
            <a:r>
              <a:rPr lang="en-US" sz="1400" b="1" dirty="0">
                <a:latin typeface="Times New Roman" panose="02020603050405020304" pitchFamily="18" charset="0"/>
                <a:cs typeface="Times New Roman" panose="02020603050405020304" pitchFamily="18" charset="0"/>
              </a:rPr>
              <a:t>intra-user variations</a:t>
            </a:r>
            <a:r>
              <a:rPr lang="en-US" sz="1400" dirty="0">
                <a:latin typeface="Times New Roman" panose="02020603050405020304" pitchFamily="18" charset="0"/>
                <a:cs typeface="Times New Roman" panose="02020603050405020304" pitchFamily="18" charset="0"/>
              </a:rPr>
              <a:t> (natural differences in a person’s signature) and </a:t>
            </a:r>
            <a:r>
              <a:rPr lang="en-US" sz="1400" b="1" dirty="0">
                <a:latin typeface="Times New Roman" panose="02020603050405020304" pitchFamily="18" charset="0"/>
                <a:cs typeface="Times New Roman" panose="02020603050405020304" pitchFamily="18" charset="0"/>
              </a:rPr>
              <a:t>inter-user variations</a:t>
            </a:r>
            <a:r>
              <a:rPr lang="en-US" sz="1400" dirty="0">
                <a:latin typeface="Times New Roman" panose="02020603050405020304" pitchFamily="18" charset="0"/>
                <a:cs typeface="Times New Roman" panose="02020603050405020304" pitchFamily="18" charset="0"/>
              </a:rPr>
              <a:t> (differences between different people's signatures).</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3. Data Labeling and Annotation</a:t>
            </a:r>
            <a:endParaRPr lang="en-US" sz="1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Proper labeling of signatures as </a:t>
            </a:r>
            <a:r>
              <a:rPr lang="en-US" sz="1400" b="1" dirty="0">
                <a:latin typeface="Times New Roman" panose="02020603050405020304" pitchFamily="18" charset="0"/>
                <a:cs typeface="Times New Roman" panose="02020603050405020304" pitchFamily="18" charset="0"/>
              </a:rPr>
              <a:t>genuine, skilled forgery, or random forgery</a:t>
            </a:r>
            <a:r>
              <a:rPr lang="en-US" sz="1400" dirty="0">
                <a:latin typeface="Times New Roman" panose="02020603050405020304" pitchFamily="18" charset="0"/>
                <a:cs typeface="Times New Roman" panose="02020603050405020304" pitchFamily="18" charset="0"/>
              </a:rPr>
              <a:t> is essential.</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Skilled forgeries (imitations by professional forgers) should be included to enhance model robustness.</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4. Data Augmentation &amp; Preprocessing</a:t>
            </a:r>
            <a:endParaRPr lang="en-US" sz="1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Augmentation techniques</a:t>
            </a:r>
            <a:r>
              <a:rPr lang="en-US" sz="1400" dirty="0">
                <a:latin typeface="Times New Roman" panose="02020603050405020304" pitchFamily="18" charset="0"/>
                <a:cs typeface="Times New Roman" panose="02020603050405020304" pitchFamily="18" charset="0"/>
              </a:rPr>
              <a:t> like rotation, scaling, and distortion help improve model generalization.</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Noise reduction, thresholding, and edge detection</a:t>
            </a:r>
            <a:r>
              <a:rPr lang="en-US" sz="1400" dirty="0">
                <a:latin typeface="Times New Roman" panose="02020603050405020304" pitchFamily="18" charset="0"/>
                <a:cs typeface="Times New Roman" panose="02020603050405020304" pitchFamily="18" charset="0"/>
              </a:rPr>
              <a:t> enhance signature clarity in offline datasets.</a:t>
            </a:r>
            <a:endParaRPr lang="en-US"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5654842" cy="3542308"/>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4842" y="0"/>
            <a:ext cx="6537158" cy="3542308"/>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29000"/>
            <a:ext cx="5342021" cy="3428999"/>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2020" y="3542308"/>
            <a:ext cx="6849979" cy="33156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357" y="1"/>
            <a:ext cx="10061221" cy="709292"/>
          </a:xfrm>
        </p:spPr>
        <p:txBody>
          <a:bodyPr/>
          <a:lstStyle/>
          <a:p>
            <a:r>
              <a:rPr lang="en-IN" dirty="0"/>
              <a:t>Federated Learning Frameworks</a:t>
            </a:r>
            <a:endParaRPr lang="en-IN" dirty="0"/>
          </a:p>
        </p:txBody>
      </p:sp>
      <p:sp>
        <p:nvSpPr>
          <p:cNvPr id="4" name="Rectangle 1"/>
          <p:cNvSpPr>
            <a:spLocks noGrp="1" noChangeArrowheads="1"/>
          </p:cNvSpPr>
          <p:nvPr>
            <p:ph type="body" idx="1"/>
          </p:nvPr>
        </p:nvSpPr>
        <p:spPr bwMode="auto">
          <a:xfrm>
            <a:off x="478600" y="778094"/>
            <a:ext cx="11589222"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TensorFlow Federated (TFF)</a:t>
            </a:r>
            <a:endParaRPr kumimoji="0" lang="en-US" altLang="en-US" sz="1600" b="0"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Language</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Highlights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Built-in simulation support, works with TensorFlow models, uses Federated Averaging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FedAvg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aggregation, ideal for research, prototyping, and production.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err="1">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PySyft</a:t>
            </a:r>
            <a:endParaRPr kumimoji="0" lang="en-US" altLang="en-US" sz="1600" b="0"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Language</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Highlights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 on privacy-preserving ML with support for differential privacy, secure multi-party computation, and integration with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 learning.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Flower (</a:t>
            </a:r>
            <a:r>
              <a:rPr kumimoji="0" lang="en-US" altLang="en-US" sz="1600" b="1" i="0" u="none" strike="noStrike" cap="none" normalizeH="0" baseline="0" dirty="0" err="1">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FLwr</a:t>
            </a: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Language</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Highlights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Flexible and scalable, supports TensorFlow,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Scikit-learn, with customizable aggregation strategies suitable for both simulation and real-world deployments.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FATE (Federated AI Technology Enabler)</a:t>
            </a:r>
            <a:endParaRPr kumimoji="0" lang="en-US" altLang="en-US" sz="1600" b="0"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Language</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Highlights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Designed for enterprise-level federated learning, supports various architectures (horizontal, vertical, transfer learning), and incorporates secure multi-party computation.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err="1">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PaddleFL</a:t>
            </a:r>
            <a:endPar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Language</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accent4">
                    <a:lumMod val="20000"/>
                    <a:lumOff val="80000"/>
                  </a:schemeClr>
                </a:solidFill>
                <a:effectLst/>
                <a:latin typeface="Times New Roman" panose="02020603050405020304" pitchFamily="18" charset="0"/>
                <a:cs typeface="Times New Roman" panose="02020603050405020304" pitchFamily="18" charset="0"/>
              </a:rPr>
              <a:t>Highlights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large-scale federated learning with deep models, handles heterogeneous training environments, and integrates with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PaddlePaddle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Model Architecture</a:t>
            </a:r>
            <a:endParaRPr lang="en-IN" dirty="0"/>
          </a:p>
        </p:txBody>
      </p:sp>
      <p:sp>
        <p:nvSpPr>
          <p:cNvPr id="3" name="Text Placeholder 2"/>
          <p:cNvSpPr>
            <a:spLocks noGrp="1"/>
          </p:cNvSpPr>
          <p:nvPr>
            <p:ph type="body" idx="1"/>
          </p:nvPr>
        </p:nvSpPr>
        <p:spPr>
          <a:xfrm flipH="1" flipV="1">
            <a:off x="10817226" y="5791200"/>
            <a:ext cx="45719" cy="45719"/>
          </a:xfrm>
        </p:spPr>
        <p:txBody>
          <a:bodyPr>
            <a:normAutofit fontScale="25000" lnSpcReduction="20000"/>
          </a:bodyPr>
          <a:lstStyle/>
          <a:p>
            <a:pPr marL="0" indent="0">
              <a:buNone/>
            </a:pPr>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5801" y="2065867"/>
            <a:ext cx="4162425" cy="3952875"/>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1335" y="2065867"/>
            <a:ext cx="6566693" cy="39528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Training Process</a:t>
            </a:r>
            <a:endParaRPr lang="en-IN" dirty="0"/>
          </a:p>
        </p:txBody>
      </p:sp>
      <p:sp>
        <p:nvSpPr>
          <p:cNvPr id="3" name="Text Placeholder 2"/>
          <p:cNvSpPr>
            <a:spLocks noGrp="1"/>
          </p:cNvSpPr>
          <p:nvPr>
            <p:ph type="body" idx="1"/>
          </p:nvPr>
        </p:nvSpPr>
        <p:spPr>
          <a:xfrm flipH="1" flipV="1">
            <a:off x="10817226" y="5791200"/>
            <a:ext cx="45719" cy="45719"/>
          </a:xfrm>
        </p:spPr>
        <p:txBody>
          <a:bodyPr>
            <a:normAutofit fontScale="25000" lnSpcReduction="20000"/>
          </a:bodyPr>
          <a:lstStyle/>
          <a:p>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852789"/>
            <a:ext cx="6862307" cy="3938411"/>
          </a:xfrm>
          <a:prstGeom prst="rect">
            <a:avLst/>
          </a:prstGeom>
        </p:spPr>
      </p:pic>
      <p:sp>
        <p:nvSpPr>
          <p:cNvPr id="8" name="TextBox 7"/>
          <p:cNvSpPr txBox="1"/>
          <p:nvPr/>
        </p:nvSpPr>
        <p:spPr>
          <a:xfrm>
            <a:off x="7123289" y="197346"/>
            <a:ext cx="5068711" cy="6463308"/>
          </a:xfrm>
          <a:prstGeom prst="rect">
            <a:avLst/>
          </a:prstGeom>
          <a:noFill/>
        </p:spPr>
        <p:txBody>
          <a:bodyPr wrap="square" rtlCol="0">
            <a:spAutoFit/>
          </a:bodyPr>
          <a:lstStyle/>
          <a:p>
            <a:r>
              <a:rPr lang="en-US" b="1" dirty="0"/>
              <a:t>1. Data Collection &amp; Preprocessing</a:t>
            </a:r>
            <a:endParaRPr lang="en-US" b="1" dirty="0"/>
          </a:p>
          <a:p>
            <a:pPr>
              <a:buFont typeface="Arial" panose="020B0604020202020204" pitchFamily="34" charset="0"/>
              <a:buChar char="•"/>
            </a:pPr>
            <a:r>
              <a:rPr lang="en-US" dirty="0"/>
              <a:t>Signature samples are stored </a:t>
            </a:r>
            <a:r>
              <a:rPr lang="en-US" b="1" dirty="0"/>
              <a:t>locally on user devices</a:t>
            </a:r>
            <a:r>
              <a:rPr lang="en-US" dirty="0"/>
              <a:t> (e.g., banks, authentication systems).</a:t>
            </a:r>
            <a:endParaRPr lang="en-US" dirty="0"/>
          </a:p>
          <a:p>
            <a:pPr>
              <a:buFont typeface="Arial" panose="020B0604020202020204" pitchFamily="34" charset="0"/>
              <a:buChar char="•"/>
            </a:pPr>
            <a:r>
              <a:rPr lang="en-US" dirty="0"/>
              <a:t>Data is cleaned, normalized, and augmented (if needed) for better training.</a:t>
            </a:r>
            <a:endParaRPr lang="en-US" dirty="0"/>
          </a:p>
          <a:p>
            <a:r>
              <a:rPr lang="en-US" b="1" dirty="0"/>
              <a:t>2. Local Model Training</a:t>
            </a:r>
            <a:endParaRPr lang="en-US" b="1" dirty="0"/>
          </a:p>
          <a:p>
            <a:pPr>
              <a:buFont typeface="Arial" panose="020B0604020202020204" pitchFamily="34" charset="0"/>
              <a:buChar char="•"/>
            </a:pPr>
            <a:r>
              <a:rPr lang="en-US" dirty="0"/>
              <a:t>Each device trains a local model using its own signature data.</a:t>
            </a:r>
            <a:endParaRPr lang="en-US" dirty="0"/>
          </a:p>
          <a:p>
            <a:pPr>
              <a:buFont typeface="Arial" panose="020B0604020202020204" pitchFamily="34" charset="0"/>
              <a:buChar char="•"/>
            </a:pPr>
            <a:r>
              <a:rPr lang="en-US" dirty="0"/>
              <a:t>Training is performed using algorithms like CNNs (Convolutional Neural Networks) or RNNs (Recurrent Neural Networks).</a:t>
            </a:r>
            <a:endParaRPr lang="en-US" dirty="0"/>
          </a:p>
          <a:p>
            <a:pPr>
              <a:buFont typeface="Arial" panose="020B0604020202020204" pitchFamily="34" charset="0"/>
              <a:buChar char="•"/>
            </a:pPr>
            <a:r>
              <a:rPr lang="en-US" dirty="0"/>
              <a:t>Only model parameters (not raw data) are updated.</a:t>
            </a:r>
            <a:endParaRPr lang="en-US" dirty="0"/>
          </a:p>
          <a:p>
            <a:r>
              <a:rPr lang="en-US" b="1" dirty="0"/>
              <a:t>3. Model Updates &amp; Aggregation</a:t>
            </a:r>
            <a:endParaRPr lang="en-US" b="1" dirty="0"/>
          </a:p>
          <a:p>
            <a:pPr>
              <a:buFont typeface="Arial" panose="020B0604020202020204" pitchFamily="34" charset="0"/>
              <a:buChar char="•"/>
            </a:pPr>
            <a:r>
              <a:rPr lang="en-US" dirty="0"/>
              <a:t>Trained local models send their updates (gradients, weights) to a central server.</a:t>
            </a:r>
            <a:endParaRPr lang="en-US" dirty="0"/>
          </a:p>
          <a:p>
            <a:pPr>
              <a:buFont typeface="Arial" panose="020B0604020202020204" pitchFamily="34" charset="0"/>
              <a:buChar char="•"/>
            </a:pPr>
            <a:r>
              <a:rPr lang="en-US" dirty="0"/>
              <a:t>The </a:t>
            </a:r>
            <a:r>
              <a:rPr lang="en-US" b="1" dirty="0"/>
              <a:t>Federated Averaging (</a:t>
            </a:r>
            <a:r>
              <a:rPr lang="en-US" b="1" dirty="0" err="1"/>
              <a:t>FedAvg</a:t>
            </a:r>
            <a:r>
              <a:rPr lang="en-US" b="1" dirty="0"/>
              <a:t>)</a:t>
            </a:r>
            <a:r>
              <a:rPr lang="en-US" dirty="0"/>
              <a:t> algorithm combines these updates into a </a:t>
            </a:r>
            <a:r>
              <a:rPr lang="en-US" b="1" dirty="0"/>
              <a:t>global model</a:t>
            </a:r>
            <a:r>
              <a:rPr lang="en-US" dirty="0"/>
              <a:t>.</a:t>
            </a:r>
            <a:endParaRPr lang="en-US" dirty="0"/>
          </a:p>
          <a:p>
            <a:r>
              <a:rPr lang="en-US" b="1" dirty="0"/>
              <a:t>4. Global Model Distribution</a:t>
            </a:r>
            <a:endParaRPr lang="en-US" b="1" dirty="0"/>
          </a:p>
          <a:p>
            <a:pPr>
              <a:buFont typeface="Arial" panose="020B0604020202020204" pitchFamily="34" charset="0"/>
              <a:buChar char="•"/>
            </a:pPr>
            <a:r>
              <a:rPr lang="en-US" dirty="0"/>
              <a:t>The updated global model is sent back to all devices.</a:t>
            </a:r>
            <a:endParaRPr lang="en-US" dirty="0"/>
          </a:p>
          <a:p>
            <a:pPr>
              <a:buFont typeface="Arial" panose="020B0604020202020204" pitchFamily="34" charset="0"/>
              <a:buChar char="•"/>
            </a:pPr>
            <a:r>
              <a:rPr lang="en-US" dirty="0"/>
              <a:t>Devices continue training with new local data, refining the model iteratively.</a:t>
            </a:r>
            <a:endParaRPr lang="en-US"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101" y="493812"/>
            <a:ext cx="10131425" cy="1456267"/>
          </a:xfrm>
        </p:spPr>
        <p:txBody>
          <a:bodyPr/>
          <a:lstStyle/>
          <a:p>
            <a:r>
              <a:rPr lang="en-IN" dirty="0"/>
              <a:t>Challenges in Federated Learning</a:t>
            </a:r>
            <a:endParaRPr lang="en-IN" dirty="0"/>
          </a:p>
        </p:txBody>
      </p:sp>
      <p:sp>
        <p:nvSpPr>
          <p:cNvPr id="3" name="Text Placeholder 2"/>
          <p:cNvSpPr>
            <a:spLocks noGrp="1"/>
          </p:cNvSpPr>
          <p:nvPr>
            <p:ph type="body" idx="1"/>
          </p:nvPr>
        </p:nvSpPr>
        <p:spPr>
          <a:xfrm>
            <a:off x="406401" y="1840089"/>
            <a:ext cx="10410826" cy="3951111"/>
          </a:xfrm>
        </p:spPr>
        <p:txBody>
          <a:bodyPr/>
          <a:lstStyle/>
          <a:p>
            <a:endParaRPr lang="en-IN" sz="1000" dirty="0"/>
          </a:p>
          <a:p>
            <a:endParaRPr lang="en-IN" sz="1000" dirty="0"/>
          </a:p>
        </p:txBody>
      </p:sp>
      <p:sp>
        <p:nvSpPr>
          <p:cNvPr id="4" name="Rectangle 1"/>
          <p:cNvSpPr>
            <a:spLocks noChangeArrowheads="1"/>
          </p:cNvSpPr>
          <p:nvPr/>
        </p:nvSpPr>
        <p:spPr bwMode="auto">
          <a:xfrm>
            <a:off x="685800" y="2479716"/>
            <a:ext cx="109981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Heterogeneity (Non-IID Data)</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Clients have different signature styles, handwriting variations, and image quality.</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clients may have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data than others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leading to imbalance.</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Techniques like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FL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clustering-based aggregation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0" y="342027"/>
            <a:ext cx="184731" cy="246221"/>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sz="1000"/>
          </a:p>
        </p:txBody>
      </p:sp>
      <p:sp>
        <p:nvSpPr>
          <p:cNvPr id="6" name="Rectangle 3"/>
          <p:cNvSpPr>
            <a:spLocks noChangeArrowheads="1"/>
          </p:cNvSpPr>
          <p:nvPr/>
        </p:nvSpPr>
        <p:spPr bwMode="auto">
          <a:xfrm>
            <a:off x="685799" y="3310753"/>
            <a:ext cx="67987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Communication Overhead</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 requires frequent model updates between clients and the server.</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or unreliable networks can affect training efficiency.</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compression, quantization, and local updates before transmission</a:t>
            </a:r>
            <a:r>
              <a:rPr kumimoji="0" lang="en-US" altLang="en-US" sz="1000" b="0" i="0" u="none" strike="noStrike" cap="none" normalizeH="0" baseline="0" dirty="0">
                <a:ln>
                  <a:noFill/>
                </a:ln>
                <a:solidFill>
                  <a:schemeClr val="tx1"/>
                </a:solidFill>
                <a:effectLst/>
                <a:latin typeface="Arial" panose="020B0604020202020204" pitchFamily="34" charset="0"/>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815102"/>
            <a:ext cx="184731" cy="246221"/>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sz="1000"/>
          </a:p>
        </p:txBody>
      </p:sp>
      <p:sp>
        <p:nvSpPr>
          <p:cNvPr id="8" name="Rectangle 5"/>
          <p:cNvSpPr>
            <a:spLocks noChangeArrowheads="1"/>
          </p:cNvSpPr>
          <p:nvPr/>
        </p:nvSpPr>
        <p:spPr bwMode="auto">
          <a:xfrm>
            <a:off x="685797" y="4127502"/>
            <a:ext cx="7216425"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Privacy and Security Risks</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 though raw data isn’t shared,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updates can leak sensitive information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(membership inference attacks).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Differential privacy, secure aggregation, and homomorphic encryption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9" name="Rectangle 6"/>
          <p:cNvSpPr>
            <a:spLocks noChangeArrowheads="1"/>
          </p:cNvSpPr>
          <p:nvPr/>
        </p:nvSpPr>
        <p:spPr bwMode="auto">
          <a:xfrm>
            <a:off x="0" y="1288177"/>
            <a:ext cx="184731" cy="246221"/>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sz="1000"/>
          </a:p>
        </p:txBody>
      </p:sp>
      <p:sp>
        <p:nvSpPr>
          <p:cNvPr id="10" name="Rectangle 7"/>
          <p:cNvSpPr>
            <a:spLocks noChangeArrowheads="1"/>
          </p:cNvSpPr>
          <p:nvPr/>
        </p:nvSpPr>
        <p:spPr bwMode="auto">
          <a:xfrm>
            <a:off x="685798" y="4911281"/>
            <a:ext cx="8559801"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System Heterogeneity</a:t>
            </a: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Clients have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 hardware capabilities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mobile vs. cloud servers).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devices may drop out, slowing down training.</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Asynchronous FL and adaptive client selection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693"/>
            <a:ext cx="12192000" cy="68546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9037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91911"/>
            <a:ext cx="10131425" cy="1456267"/>
          </a:xfrm>
        </p:spPr>
        <p:txBody>
          <a:bodyPr/>
          <a:lstStyle/>
          <a:p>
            <a:r>
              <a:rPr lang="en-IN" dirty="0"/>
              <a:t>Conclusion and Future Scope</a:t>
            </a:r>
            <a:endParaRPr lang="en-IN" dirty="0"/>
          </a:p>
        </p:txBody>
      </p:sp>
      <p:sp>
        <p:nvSpPr>
          <p:cNvPr id="3" name="Text Placeholder 2"/>
          <p:cNvSpPr>
            <a:spLocks noGrp="1"/>
          </p:cNvSpPr>
          <p:nvPr>
            <p:ph type="body" idx="1"/>
          </p:nvPr>
        </p:nvSpPr>
        <p:spPr>
          <a:xfrm>
            <a:off x="685801" y="1648178"/>
            <a:ext cx="10840155" cy="4470400"/>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Federated learning for signature detection offers a promising approach to preserving data privacy while enabling collaborative model training across multiple clients. By keeping raw data local and sharing only model updates, this approach mitigates risks related to data security and compliance. Leveraging architectures like CNNs for feature extraction and employing aggregation methods like Federated Averaging ensures a balance between model performance and resource efficiency across diverse, distributed datasets.</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Future Scope</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Enhanced Privacy Mechanisms:</a:t>
            </a:r>
            <a:r>
              <a:rPr lang="en-US" dirty="0">
                <a:latin typeface="Times New Roman" panose="02020603050405020304" pitchFamily="18" charset="0"/>
                <a:cs typeface="Times New Roman" panose="02020603050405020304" pitchFamily="18" charset="0"/>
              </a:rPr>
              <a:t> Integrating advanced privacy techniques such as differential privacy, secure multi-party computation, and encryption can further safeguard sensitive data.</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Optimized Communication Protocols:</a:t>
            </a:r>
            <a:r>
              <a:rPr lang="en-US" dirty="0">
                <a:latin typeface="Times New Roman" panose="02020603050405020304" pitchFamily="18" charset="0"/>
                <a:cs typeface="Times New Roman" panose="02020603050405020304" pitchFamily="18" charset="0"/>
              </a:rPr>
              <a:t> Developing more efficient communication strategies will help reduce latency and bandwidth usage during model update exchanges, making the framework more scalable.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Robust Aggregation Methods:</a:t>
            </a:r>
            <a:r>
              <a:rPr lang="en-US" dirty="0">
                <a:latin typeface="Times New Roman" panose="02020603050405020304" pitchFamily="18" charset="0"/>
                <a:cs typeface="Times New Roman" panose="02020603050405020304" pitchFamily="18" charset="0"/>
              </a:rPr>
              <a:t> Research into novel aggregation algorithms can improve model convergence and performance, particularly in non-IID (non-independent and identically distributed) data scenarios.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Cross-Domain Applications:</a:t>
            </a:r>
            <a:r>
              <a:rPr lang="en-US" dirty="0">
                <a:latin typeface="Times New Roman" panose="02020603050405020304" pitchFamily="18" charset="0"/>
                <a:cs typeface="Times New Roman" panose="02020603050405020304" pitchFamily="18" charset="0"/>
              </a:rPr>
              <a:t> Extending the federated learning framework to other verification systems or similar pattern recognition tasks can broaden its applicability.</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Adaptive and Personalized Models:</a:t>
            </a:r>
            <a:r>
              <a:rPr lang="en-US" dirty="0">
                <a:latin typeface="Times New Roman" panose="02020603050405020304" pitchFamily="18" charset="0"/>
                <a:cs typeface="Times New Roman" panose="02020603050405020304" pitchFamily="18" charset="0"/>
              </a:rPr>
              <a:t> Future work could explore adaptive models that personalize the global model further based on individual client data, leading to more accurate and user-specific signature verification.</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0</TotalTime>
  <Words>12377</Words>
  <Application>WPS Slides</Application>
  <PresentationFormat>Widescreen</PresentationFormat>
  <Paragraphs>166</Paragraphs>
  <Slides>16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Arial</vt:lpstr>
      <vt:lpstr>SimSun</vt:lpstr>
      <vt:lpstr>Wingdings</vt:lpstr>
      <vt:lpstr>Arial</vt:lpstr>
      <vt:lpstr>Times New Roman</vt:lpstr>
      <vt:lpstr>Calibri Light</vt:lpstr>
      <vt:lpstr>Calibri</vt:lpstr>
      <vt:lpstr>Microsoft YaHei</vt:lpstr>
      <vt:lpstr>Arial Unicode MS</vt:lpstr>
      <vt:lpstr>Celestial</vt:lpstr>
      <vt:lpstr>Signature Detection Using Federated Learning</vt:lpstr>
      <vt:lpstr>Introduction</vt:lpstr>
      <vt:lpstr>What is Federated Learning?</vt:lpstr>
      <vt:lpstr>How Federated Learning Works</vt:lpstr>
      <vt:lpstr>Why Use Federated Learning for Signature Detection?</vt:lpstr>
      <vt:lpstr>Traditional vs Federated Learning Approach</vt:lpstr>
      <vt:lpstr>Signature Detection Techniques</vt:lpstr>
      <vt:lpstr>Dataset Considerations</vt:lpstr>
      <vt:lpstr>PowerPoint 演示文稿</vt:lpstr>
      <vt:lpstr>Federated Learning Frameworks</vt:lpstr>
      <vt:lpstr>Model Architecture</vt:lpstr>
      <vt:lpstr>Training Process</vt:lpstr>
      <vt:lpstr>Challenges in Federated Learning</vt:lpstr>
      <vt:lpstr>PowerPoint 演示文稿</vt:lpstr>
      <vt:lpstr>PowerPoint 演示文稿</vt:lpstr>
      <vt:lpstr>Conclusion and Future 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man</dc:creator>
  <cp:lastModifiedBy>OLANGA GAMING</cp:lastModifiedBy>
  <cp:revision>3</cp:revision>
  <dcterms:created xsi:type="dcterms:W3CDTF">2025-03-05T13:47:00Z</dcterms:created>
  <dcterms:modified xsi:type="dcterms:W3CDTF">2025-05-02T08:33:19Z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57C42FCDB1A947549B733A00DA65BE7B_12</vt:lpwstr>
  </property>
  <property fmtid="{D5CDD505-2E9C-101B-9397-08002B2CF9AE}" pid="3" name="KSOProductBuildVer">
    <vt:lpwstr>1033-12.2.0.20795</vt:lpwstr>
  </property>
</Properties>
</file>